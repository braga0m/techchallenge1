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Inter" panose="020B0604020202020204" charset="0"/>
      <p:regular r:id="rId12"/>
      <p:bold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na Siqueira" userId="ebdf4ab20837a3ec" providerId="LiveId" clId="{B3E71937-B298-4479-86C4-08E807337273}"/>
    <pc:docChg chg="modSld">
      <pc:chgData name="Julianna Siqueira" userId="ebdf4ab20837a3ec" providerId="LiveId" clId="{B3E71937-B298-4479-86C4-08E807337273}" dt="2026-06-25T00:43:34.637" v="32" actId="207"/>
      <pc:docMkLst>
        <pc:docMk/>
      </pc:docMkLst>
      <pc:sldChg chg="modSp mod">
        <pc:chgData name="Julianna Siqueira" userId="ebdf4ab20837a3ec" providerId="LiveId" clId="{B3E71937-B298-4479-86C4-08E807337273}" dt="2026-06-25T00:43:34.637" v="32" actId="207"/>
        <pc:sldMkLst>
          <pc:docMk/>
          <pc:sldMk cId="0" sldId="265"/>
        </pc:sldMkLst>
        <pc:spChg chg="mod">
          <ac:chgData name="Julianna Siqueira" userId="ebdf4ab20837a3ec" providerId="LiveId" clId="{B3E71937-B298-4479-86C4-08E807337273}" dt="2026-06-25T00:39:23.767" v="14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Julianna Siqueira" userId="ebdf4ab20837a3ec" providerId="LiveId" clId="{B3E71937-B298-4479-86C4-08E807337273}" dt="2026-06-25T00:43:34.637" v="32" actId="207"/>
          <ac:spMkLst>
            <pc:docMk/>
            <pc:sldMk cId="0" sldId="265"/>
            <ac:spMk id="9" creationId="{00000000-0000-0000-0000-000000000000}"/>
          </ac:spMkLst>
        </pc:spChg>
        <pc:picChg chg="mod">
          <ac:chgData name="Julianna Siqueira" userId="ebdf4ab20837a3ec" providerId="LiveId" clId="{B3E71937-B298-4479-86C4-08E807337273}" dt="2026-06-25T00:39:35.295" v="31" actId="1035"/>
          <ac:picMkLst>
            <pc:docMk/>
            <pc:sldMk cId="0" sldId="265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96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2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2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52798"/>
            <a:ext cx="6096000" cy="24765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51821"/>
            <a:ext cx="877788" cy="114300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7655" y="647402"/>
            <a:ext cx="4852392" cy="5505599"/>
          </a:xfrm>
          <a:prstGeom prst="rect">
            <a:avLst/>
          </a:prstGeom>
        </p:spPr>
      </p:pic>
      <p:pic>
        <p:nvPicPr>
          <p:cNvPr id="8" name="SK-1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0792" y="1844725"/>
            <a:ext cx="3779490" cy="2647057"/>
          </a:xfrm>
          <a:prstGeom prst="rect">
            <a:avLst/>
          </a:prstGeom>
        </p:spPr>
      </p:pic>
      <p:pic>
        <p:nvPicPr>
          <p:cNvPr id="9" name="SK-1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4659" y="5036493"/>
            <a:ext cx="463153" cy="150763"/>
          </a:xfrm>
          <a:prstGeom prst="rect">
            <a:avLst/>
          </a:prstGeom>
        </p:spPr>
      </p:pic>
      <p:pic>
        <p:nvPicPr>
          <p:cNvPr id="10" name="SK-1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4659" y="5255865"/>
            <a:ext cx="1060698" cy="150763"/>
          </a:xfrm>
          <a:prstGeom prst="rect">
            <a:avLst/>
          </a:prstGeom>
        </p:spPr>
      </p:pic>
      <p:pic>
        <p:nvPicPr>
          <p:cNvPr id="11" name="SK-1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4659" y="5468541"/>
            <a:ext cx="743694" cy="198834"/>
          </a:xfrm>
          <a:prstGeom prst="rect">
            <a:avLst/>
          </a:prstGeom>
        </p:spPr>
      </p:pic>
      <p:pic>
        <p:nvPicPr>
          <p:cNvPr id="12" name="SK-1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1961257"/>
            <a:ext cx="3864769" cy="2763738"/>
          </a:xfrm>
          <a:prstGeom prst="rect">
            <a:avLst/>
          </a:prstGeom>
        </p:spPr>
      </p:pic>
      <p:sp>
        <p:nvSpPr>
          <p:cNvPr id="13" name="SK-1-text-12"/>
          <p:cNvSpPr/>
          <p:nvPr/>
        </p:nvSpPr>
        <p:spPr>
          <a:xfrm>
            <a:off x="585192" y="411361"/>
            <a:ext cx="10581323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76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Scientist · Tech Challenge Fase 1</a:t>
            </a:r>
            <a:endParaRPr lang="en-US" sz="1575" dirty="0"/>
          </a:p>
        </p:txBody>
      </p:sp>
      <p:sp>
        <p:nvSpPr>
          <p:cNvPr id="14" name="SK-1-text-13"/>
          <p:cNvSpPr/>
          <p:nvPr/>
        </p:nvSpPr>
        <p:spPr>
          <a:xfrm>
            <a:off x="585192" y="1803648"/>
            <a:ext cx="4876800" cy="19475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5033"/>
              </a:lnSpc>
              <a:buNone/>
            </a:pPr>
            <a:r>
              <a:rPr lang="en-US" sz="4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Previsão de</a:t>
            </a:r>
            <a:endParaRPr lang="en-US" sz="4575" dirty="0"/>
          </a:p>
          <a:p>
            <a:pPr marL="0" indent="0" algn="l">
              <a:lnSpc>
                <a:spcPts val="5033"/>
              </a:lnSpc>
              <a:buNone/>
            </a:pPr>
            <a:r>
              <a:rPr lang="en-US" sz="4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Satisfação do</a:t>
            </a:r>
            <a:endParaRPr lang="en-US" sz="4575" dirty="0"/>
          </a:p>
          <a:p>
            <a:pPr marL="0" indent="0" algn="l">
              <a:lnSpc>
                <a:spcPts val="5033"/>
              </a:lnSpc>
              <a:buNone/>
            </a:pPr>
            <a:r>
              <a:rPr lang="en-US" sz="4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com NPS</a:t>
            </a:r>
            <a:endParaRPr lang="en-US" sz="4575" dirty="0"/>
          </a:p>
        </p:txBody>
      </p:sp>
      <p:sp>
        <p:nvSpPr>
          <p:cNvPr id="15" name="SK-1-text-14"/>
          <p:cNvSpPr/>
          <p:nvPr/>
        </p:nvSpPr>
        <p:spPr>
          <a:xfrm>
            <a:off x="585192" y="4389090"/>
            <a:ext cx="3998863" cy="8434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dirty="0">
                <a:solidFill>
                  <a:srgbClr val="B0C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do Tech</a:t>
            </a:r>
            <a:endParaRPr lang="en-US" sz="2700" dirty="0"/>
          </a:p>
          <a:p>
            <a:pPr marL="0" indent="0" algn="l">
              <a:lnSpc>
                <a:spcPts val="3240"/>
              </a:lnSpc>
              <a:buNone/>
            </a:pPr>
            <a:r>
              <a:rPr lang="en-US" sz="2700" dirty="0">
                <a:solidFill>
                  <a:srgbClr val="B0C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Fase 1 </a:t>
            </a:r>
            <a:endParaRPr lang="en-US" sz="2700" dirty="0"/>
          </a:p>
        </p:txBody>
      </p:sp>
      <p:sp>
        <p:nvSpPr>
          <p:cNvPr id="16" name="SK-1-text-15"/>
          <p:cNvSpPr/>
          <p:nvPr/>
        </p:nvSpPr>
        <p:spPr>
          <a:xfrm>
            <a:off x="597396" y="6199584"/>
            <a:ext cx="404431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B0C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Junho de 2026</a:t>
            </a:r>
            <a:endParaRPr lang="en-US" sz="1650" dirty="0"/>
          </a:p>
        </p:txBody>
      </p:sp>
      <p:sp>
        <p:nvSpPr>
          <p:cNvPr id="17" name="SK-1-text-16"/>
          <p:cNvSpPr/>
          <p:nvPr/>
        </p:nvSpPr>
        <p:spPr>
          <a:xfrm>
            <a:off x="10866388" y="6371034"/>
            <a:ext cx="1008459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00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FIAP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90786"/>
            <a:ext cx="5157192" cy="381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25" y="2808191"/>
            <a:ext cx="2523679" cy="2228850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4625" y="2821883"/>
            <a:ext cx="2523679" cy="2215009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7825" y="2808191"/>
            <a:ext cx="2535882" cy="2228850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6518" y="1951212"/>
            <a:ext cx="2535882" cy="3538686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1681" y="3936098"/>
            <a:ext cx="743694" cy="38100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4881" y="3936098"/>
            <a:ext cx="743694" cy="38100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285" y="3936098"/>
            <a:ext cx="743694" cy="38100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5890" y="3563392"/>
            <a:ext cx="2109192" cy="19050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4128" y="6228933"/>
            <a:ext cx="12298184" cy="658267"/>
          </a:xfrm>
          <a:prstGeom prst="rect">
            <a:avLst/>
          </a:prstGeom>
        </p:spPr>
      </p:pic>
      <p:sp>
        <p:nvSpPr>
          <p:cNvPr id="17" name="SK-2-text-16"/>
          <p:cNvSpPr/>
          <p:nvPr/>
        </p:nvSpPr>
        <p:spPr>
          <a:xfrm>
            <a:off x="431688" y="561874"/>
            <a:ext cx="11594604" cy="5073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675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Problema em Números</a:t>
            </a:r>
            <a:endParaRPr lang="en-US" sz="3675" b="1" dirty="0"/>
          </a:p>
        </p:txBody>
      </p:sp>
      <p:sp>
        <p:nvSpPr>
          <p:cNvPr id="18" name="SK-2-text-17"/>
          <p:cNvSpPr/>
          <p:nvPr/>
        </p:nvSpPr>
        <p:spPr>
          <a:xfrm>
            <a:off x="441425" y="1849607"/>
            <a:ext cx="6973937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analisada: 2.500 pedidos · 19 variáveis</a:t>
            </a:r>
            <a:endParaRPr lang="en-US" sz="2000" dirty="0"/>
          </a:p>
        </p:txBody>
      </p:sp>
      <p:sp>
        <p:nvSpPr>
          <p:cNvPr id="19" name="SK-2-text-18"/>
          <p:cNvSpPr/>
          <p:nvPr/>
        </p:nvSpPr>
        <p:spPr>
          <a:xfrm>
            <a:off x="669962" y="3056760"/>
            <a:ext cx="6273165" cy="6794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5550" dirty="0">
                <a:solidFill>
                  <a:srgbClr val="C94B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84,4%</a:t>
            </a:r>
            <a:endParaRPr lang="en-US" sz="5550" dirty="0"/>
          </a:p>
        </p:txBody>
      </p:sp>
      <p:sp>
        <p:nvSpPr>
          <p:cNvPr id="20" name="SK-2-text-19"/>
          <p:cNvSpPr/>
          <p:nvPr/>
        </p:nvSpPr>
        <p:spPr>
          <a:xfrm>
            <a:off x="997785" y="4219433"/>
            <a:ext cx="3333750" cy="26802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Detratores</a:t>
            </a:r>
            <a:endParaRPr lang="en-US" sz="2100" dirty="0"/>
          </a:p>
        </p:txBody>
      </p:sp>
      <p:sp>
        <p:nvSpPr>
          <p:cNvPr id="21" name="SK-2-text-20"/>
          <p:cNvSpPr/>
          <p:nvPr/>
        </p:nvSpPr>
        <p:spPr>
          <a:xfrm>
            <a:off x="891870" y="4602274"/>
            <a:ext cx="4099560" cy="1620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insatisfeitos</a:t>
            </a:r>
            <a:endParaRPr lang="en-US" sz="1200" dirty="0"/>
          </a:p>
        </p:txBody>
      </p:sp>
      <p:sp>
        <p:nvSpPr>
          <p:cNvPr id="22" name="SK-2-text-21"/>
          <p:cNvSpPr/>
          <p:nvPr/>
        </p:nvSpPr>
        <p:spPr>
          <a:xfrm>
            <a:off x="3693702" y="3056449"/>
            <a:ext cx="6273165" cy="6732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5550" dirty="0">
                <a:solidFill>
                  <a:srgbClr val="D4A0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11,2%</a:t>
            </a:r>
            <a:endParaRPr lang="en-US" sz="5550" dirty="0"/>
          </a:p>
        </p:txBody>
      </p:sp>
      <p:sp>
        <p:nvSpPr>
          <p:cNvPr id="23" name="SK-2-text-22"/>
          <p:cNvSpPr/>
          <p:nvPr/>
        </p:nvSpPr>
        <p:spPr>
          <a:xfrm>
            <a:off x="3855360" y="4250664"/>
            <a:ext cx="2373630" cy="2742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Neutros</a:t>
            </a:r>
            <a:endParaRPr lang="en-US" sz="2100" dirty="0"/>
          </a:p>
        </p:txBody>
      </p:sp>
      <p:sp>
        <p:nvSpPr>
          <p:cNvPr id="24" name="SK-2-text-23"/>
          <p:cNvSpPr/>
          <p:nvPr/>
        </p:nvSpPr>
        <p:spPr>
          <a:xfrm>
            <a:off x="3567199" y="4629804"/>
            <a:ext cx="4282440" cy="17453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Experiência indiferente</a:t>
            </a:r>
            <a:endParaRPr lang="en-US" sz="1200" dirty="0"/>
          </a:p>
        </p:txBody>
      </p:sp>
      <p:sp>
        <p:nvSpPr>
          <p:cNvPr id="25" name="SK-2-text-24"/>
          <p:cNvSpPr/>
          <p:nvPr/>
        </p:nvSpPr>
        <p:spPr>
          <a:xfrm>
            <a:off x="6361137" y="3017008"/>
            <a:ext cx="4863465" cy="6732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5550" dirty="0">
                <a:solidFill>
                  <a:srgbClr val="3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4,4%</a:t>
            </a:r>
            <a:endParaRPr lang="en-US" sz="5550" dirty="0"/>
          </a:p>
        </p:txBody>
      </p:sp>
      <p:sp>
        <p:nvSpPr>
          <p:cNvPr id="26" name="SK-2-text-25"/>
          <p:cNvSpPr/>
          <p:nvPr/>
        </p:nvSpPr>
        <p:spPr>
          <a:xfrm>
            <a:off x="6419073" y="4211462"/>
            <a:ext cx="3333750" cy="3117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Promotores</a:t>
            </a:r>
            <a:endParaRPr lang="en-US" sz="2100" dirty="0"/>
          </a:p>
        </p:txBody>
      </p:sp>
      <p:sp>
        <p:nvSpPr>
          <p:cNvPr id="27" name="SK-2-text-26"/>
          <p:cNvSpPr/>
          <p:nvPr/>
        </p:nvSpPr>
        <p:spPr>
          <a:xfrm>
            <a:off x="6476669" y="4622647"/>
            <a:ext cx="3733800" cy="1683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satisfeitos</a:t>
            </a:r>
            <a:endParaRPr lang="en-US" sz="1200" dirty="0"/>
          </a:p>
        </p:txBody>
      </p:sp>
      <p:sp>
        <p:nvSpPr>
          <p:cNvPr id="28" name="SK-2-text-27"/>
          <p:cNvSpPr/>
          <p:nvPr/>
        </p:nvSpPr>
        <p:spPr>
          <a:xfrm>
            <a:off x="9171663" y="2249314"/>
            <a:ext cx="2767608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MÉDIO DA BASE</a:t>
            </a:r>
            <a:endParaRPr lang="en-US" sz="1650" b="1" dirty="0"/>
          </a:p>
        </p:txBody>
      </p:sp>
      <p:sp>
        <p:nvSpPr>
          <p:cNvPr id="29" name="SK-2-text-28"/>
          <p:cNvSpPr/>
          <p:nvPr/>
        </p:nvSpPr>
        <p:spPr>
          <a:xfrm>
            <a:off x="9521875" y="2619673"/>
            <a:ext cx="2670125" cy="713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555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4,38</a:t>
            </a:r>
            <a:endParaRPr lang="en-US" sz="5550" dirty="0"/>
          </a:p>
        </p:txBody>
      </p:sp>
      <p:sp>
        <p:nvSpPr>
          <p:cNvPr id="30" name="SK-2-text-29"/>
          <p:cNvSpPr/>
          <p:nvPr/>
        </p:nvSpPr>
        <p:spPr>
          <a:xfrm>
            <a:off x="9293553" y="3877420"/>
            <a:ext cx="2645718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DA EMPRESA</a:t>
            </a:r>
            <a:endParaRPr lang="en-US" sz="1650" b="1" dirty="0"/>
          </a:p>
        </p:txBody>
      </p:sp>
      <p:sp>
        <p:nvSpPr>
          <p:cNvPr id="31" name="SK-2-text-30"/>
          <p:cNvSpPr/>
          <p:nvPr/>
        </p:nvSpPr>
        <p:spPr>
          <a:xfrm>
            <a:off x="9241482" y="4265563"/>
            <a:ext cx="2950518" cy="6719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5550" dirty="0">
                <a:solidFill>
                  <a:srgbClr val="C94B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-0,799</a:t>
            </a:r>
            <a:endParaRPr lang="en-US" sz="5550" dirty="0"/>
          </a:p>
        </p:txBody>
      </p:sp>
      <p:sp>
        <p:nvSpPr>
          <p:cNvPr id="32" name="SK-2-text-31"/>
          <p:cNvSpPr/>
          <p:nvPr/>
        </p:nvSpPr>
        <p:spPr>
          <a:xfrm>
            <a:off x="9348788" y="5108972"/>
            <a:ext cx="281642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 de alerta crítico</a:t>
            </a:r>
            <a:endParaRPr lang="en-US" sz="1200" dirty="0"/>
          </a:p>
        </p:txBody>
      </p:sp>
      <p:sp>
        <p:nvSpPr>
          <p:cNvPr id="38" name="SK-2-text-37"/>
          <p:cNvSpPr/>
          <p:nvPr/>
        </p:nvSpPr>
        <p:spPr>
          <a:xfrm>
            <a:off x="597396" y="6418957"/>
            <a:ext cx="11594604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se trata de </a:t>
            </a:r>
            <a:r>
              <a:rPr lang="en-US" sz="15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</a:t>
            </a: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isolados</a:t>
            </a: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existe</a:t>
            </a: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um padrão consistente de insatisfação que impacta retenção e recompra.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41077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16775"/>
            <a:ext cx="12192000" cy="41077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65" y="1693813"/>
            <a:ext cx="975271" cy="68461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199" y="1913334"/>
            <a:ext cx="28575" cy="4539853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65" y="3175248"/>
            <a:ext cx="3913584" cy="120015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992" y="3902125"/>
            <a:ext cx="3121075" cy="363438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765" y="4581079"/>
            <a:ext cx="3913584" cy="1248073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565" y="6076057"/>
            <a:ext cx="3194298" cy="370284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2157" y="1193155"/>
            <a:ext cx="6388596" cy="4882753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00973" y="1357759"/>
            <a:ext cx="6242298" cy="4299942"/>
          </a:xfrm>
          <a:prstGeom prst="rect">
            <a:avLst/>
          </a:prstGeom>
        </p:spPr>
      </p:pic>
      <p:sp>
        <p:nvSpPr>
          <p:cNvPr id="13" name="SK-3-text-12"/>
          <p:cNvSpPr/>
          <p:nvPr/>
        </p:nvSpPr>
        <p:spPr>
          <a:xfrm>
            <a:off x="463153" y="521196"/>
            <a:ext cx="6096000" cy="10560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450" b="1" dirty="0">
                <a:solidFill>
                  <a:srgbClr val="0D21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os Dados Revelam:</a:t>
            </a:r>
            <a:endParaRPr lang="en-US" sz="3450" dirty="0"/>
          </a:p>
          <a:p>
            <a:pPr marL="0" indent="0" algn="l">
              <a:lnSpc>
                <a:spcPts val="4140"/>
              </a:lnSpc>
              <a:buNone/>
            </a:pPr>
            <a:r>
              <a:rPr lang="en-US" sz="3450" b="1" dirty="0">
                <a:solidFill>
                  <a:srgbClr val="0D21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 na Entrega</a:t>
            </a:r>
            <a:endParaRPr lang="en-US" sz="3450" dirty="0"/>
          </a:p>
        </p:txBody>
      </p:sp>
      <p:sp>
        <p:nvSpPr>
          <p:cNvPr id="14" name="SK-3-text-13"/>
          <p:cNvSpPr/>
          <p:nvPr/>
        </p:nvSpPr>
        <p:spPr>
          <a:xfrm>
            <a:off x="451098" y="2043559"/>
            <a:ext cx="4315867" cy="8572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Quanto maior o atraso na entrega,</a:t>
            </a:r>
            <a:endParaRPr lang="en-US" sz="16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é o NPS do </a:t>
            </a:r>
            <a:r>
              <a:rPr lang="en-US" sz="1650" dirty="0" err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</a:t>
            </a:r>
            <a:r>
              <a:rPr lang="en-US" sz="16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50" dirty="0"/>
          </a:p>
        </p:txBody>
      </p:sp>
      <p:sp>
        <p:nvSpPr>
          <p:cNvPr id="15" name="SK-3-text-14"/>
          <p:cNvSpPr/>
          <p:nvPr/>
        </p:nvSpPr>
        <p:spPr>
          <a:xfrm>
            <a:off x="1329333" y="3346698"/>
            <a:ext cx="2254448" cy="5143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38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2,4 dias</a:t>
            </a:r>
            <a:endParaRPr lang="en-US" sz="3825" dirty="0"/>
          </a:p>
        </p:txBody>
      </p:sp>
      <p:sp>
        <p:nvSpPr>
          <p:cNvPr id="16" name="SK-3-text-15"/>
          <p:cNvSpPr/>
          <p:nvPr/>
        </p:nvSpPr>
        <p:spPr>
          <a:xfrm>
            <a:off x="983903" y="3963888"/>
            <a:ext cx="2933254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 </a:t>
            </a:r>
            <a:r>
              <a:rPr lang="en-US" sz="16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</a:t>
            </a:r>
            <a:r>
              <a:rPr lang="en-US" sz="16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Detratores</a:t>
            </a:r>
            <a:endParaRPr lang="en-US" sz="1650" dirty="0"/>
          </a:p>
        </p:txBody>
      </p:sp>
      <p:sp>
        <p:nvSpPr>
          <p:cNvPr id="17" name="SK-3-text-16"/>
          <p:cNvSpPr/>
          <p:nvPr/>
        </p:nvSpPr>
        <p:spPr>
          <a:xfrm>
            <a:off x="1475631" y="4759375"/>
            <a:ext cx="1974056" cy="5417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38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0,7 dia</a:t>
            </a:r>
            <a:endParaRPr lang="en-US" sz="3825" dirty="0"/>
          </a:p>
        </p:txBody>
      </p:sp>
      <p:sp>
        <p:nvSpPr>
          <p:cNvPr id="18" name="SK-3-text-17"/>
          <p:cNvSpPr/>
          <p:nvPr/>
        </p:nvSpPr>
        <p:spPr>
          <a:xfrm>
            <a:off x="922883" y="5390257"/>
            <a:ext cx="306734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 </a:t>
            </a:r>
            <a:r>
              <a:rPr lang="en-US" sz="16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Promotores</a:t>
            </a:r>
            <a:endParaRPr lang="en-US" sz="1650" dirty="0"/>
          </a:p>
        </p:txBody>
      </p:sp>
      <p:sp>
        <p:nvSpPr>
          <p:cNvPr id="19" name="SK-3-text-18"/>
          <p:cNvSpPr/>
          <p:nvPr/>
        </p:nvSpPr>
        <p:spPr>
          <a:xfrm>
            <a:off x="910679" y="6117282"/>
            <a:ext cx="2994273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21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Correlação com NPS: -0,60</a:t>
            </a:r>
            <a:endParaRPr lang="en-US" sz="1650" dirty="0"/>
          </a:p>
        </p:txBody>
      </p:sp>
      <p:sp>
        <p:nvSpPr>
          <p:cNvPr id="20" name="SK-3-text-19"/>
          <p:cNvSpPr/>
          <p:nvPr/>
        </p:nvSpPr>
        <p:spPr>
          <a:xfrm>
            <a:off x="7650212" y="5692080"/>
            <a:ext cx="2304604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Dias de atraso na entrega</a:t>
            </a:r>
            <a:endParaRPr lang="en-US" sz="1350" dirty="0"/>
          </a:p>
        </p:txBody>
      </p:sp>
      <p:sp>
        <p:nvSpPr>
          <p:cNvPr id="21" name="SK-3-text-20"/>
          <p:cNvSpPr/>
          <p:nvPr/>
        </p:nvSpPr>
        <p:spPr>
          <a:xfrm>
            <a:off x="6260306" y="6185743"/>
            <a:ext cx="5084415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Distribuição do NPS escore por dias de atraso na entrega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77875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9" y="1941165"/>
            <a:ext cx="1158180" cy="95250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9" y="2345382"/>
            <a:ext cx="5132784" cy="987475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9" y="3504307"/>
            <a:ext cx="5132784" cy="980629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789" y="4655790"/>
            <a:ext cx="5132784" cy="981968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440" y="5245596"/>
            <a:ext cx="121890" cy="198834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8650" y="5054203"/>
            <a:ext cx="9525" cy="541734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0094" y="1350913"/>
            <a:ext cx="5730180" cy="4827984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9914" y="4731990"/>
            <a:ext cx="975271" cy="349746"/>
          </a:xfrm>
          <a:prstGeom prst="rect">
            <a:avLst/>
          </a:prstGeom>
        </p:spPr>
      </p:pic>
      <p:sp>
        <p:nvSpPr>
          <p:cNvPr id="17" name="SK-4-text-16"/>
          <p:cNvSpPr/>
          <p:nvPr/>
        </p:nvSpPr>
        <p:spPr>
          <a:xfrm>
            <a:off x="548580" y="527132"/>
            <a:ext cx="5315694" cy="966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3795"/>
              </a:lnSpc>
              <a:buNone/>
            </a:pPr>
            <a:r>
              <a:rPr lang="en-US" sz="3200" b="1" dirty="0" err="1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Reclamações</a:t>
            </a:r>
            <a:r>
              <a:rPr lang="en-US" sz="3200" b="1" dirty="0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e</a:t>
            </a:r>
          </a:p>
          <a:p>
            <a:pPr marL="0" indent="0" algn="l">
              <a:lnSpc>
                <a:spcPts val="3795"/>
              </a:lnSpc>
              <a:buNone/>
            </a:pPr>
            <a:r>
              <a:rPr lang="en-US" sz="3200" b="1" dirty="0" err="1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Atendimento</a:t>
            </a:r>
            <a:endParaRPr lang="en-US" sz="3200" dirty="0">
              <a:latin typeface="Montserrat" panose="00000500000000000000" pitchFamily="2" charset="0"/>
            </a:endParaRPr>
          </a:p>
        </p:txBody>
      </p:sp>
      <p:sp>
        <p:nvSpPr>
          <p:cNvPr id="18" name="SK-4-text-17"/>
          <p:cNvSpPr/>
          <p:nvPr/>
        </p:nvSpPr>
        <p:spPr>
          <a:xfrm>
            <a:off x="748291" y="2571750"/>
            <a:ext cx="1475184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269398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RECLAMAÇÕES</a:t>
            </a:r>
            <a:endParaRPr lang="en-US" sz="1575" dirty="0">
              <a:latin typeface="Montserrat" panose="00000500000000000000" pitchFamily="2" charset="0"/>
            </a:endParaRPr>
          </a:p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269398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POR PEDIDO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19" name="SK-4-text-18"/>
          <p:cNvSpPr/>
          <p:nvPr/>
        </p:nvSpPr>
        <p:spPr>
          <a:xfrm>
            <a:off x="3418416" y="2496294"/>
            <a:ext cx="2714625" cy="4868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01D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4,4</a:t>
            </a:r>
            <a:endParaRPr lang="en-US" sz="3750" dirty="0"/>
          </a:p>
        </p:txBody>
      </p:sp>
      <p:sp>
        <p:nvSpPr>
          <p:cNvPr id="20" name="SK-4-text-19"/>
          <p:cNvSpPr/>
          <p:nvPr/>
        </p:nvSpPr>
        <p:spPr>
          <a:xfrm>
            <a:off x="4284000" y="2667744"/>
            <a:ext cx="46958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7B7B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</a:t>
            </a:r>
            <a:endParaRPr lang="en-US" sz="1275" dirty="0"/>
          </a:p>
        </p:txBody>
      </p:sp>
      <p:sp>
        <p:nvSpPr>
          <p:cNvPr id="21" name="SK-4-text-20"/>
          <p:cNvSpPr/>
          <p:nvPr/>
        </p:nvSpPr>
        <p:spPr>
          <a:xfrm>
            <a:off x="4698487" y="2509986"/>
            <a:ext cx="2714625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693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2,3</a:t>
            </a:r>
            <a:endParaRPr lang="en-US" sz="3750" dirty="0"/>
          </a:p>
        </p:txBody>
      </p:sp>
      <p:sp>
        <p:nvSpPr>
          <p:cNvPr id="22" name="SK-4-text-21"/>
          <p:cNvSpPr/>
          <p:nvPr/>
        </p:nvSpPr>
        <p:spPr>
          <a:xfrm>
            <a:off x="3381804" y="3010644"/>
            <a:ext cx="202406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7B7B7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Detratores</a:t>
            </a:r>
            <a:endParaRPr lang="en-US" sz="1275" dirty="0">
              <a:latin typeface="Montserrat" panose="00000500000000000000" pitchFamily="2" charset="0"/>
            </a:endParaRPr>
          </a:p>
        </p:txBody>
      </p:sp>
      <p:sp>
        <p:nvSpPr>
          <p:cNvPr id="23" name="SK-4-text-22"/>
          <p:cNvSpPr/>
          <p:nvPr/>
        </p:nvSpPr>
        <p:spPr>
          <a:xfrm>
            <a:off x="4588800" y="3010644"/>
            <a:ext cx="202406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7B7B7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Promotores</a:t>
            </a:r>
            <a:endParaRPr lang="en-US" sz="1275" dirty="0">
              <a:latin typeface="Montserrat" panose="00000500000000000000" pitchFamily="2" charset="0"/>
            </a:endParaRPr>
          </a:p>
        </p:txBody>
      </p:sp>
      <p:sp>
        <p:nvSpPr>
          <p:cNvPr id="24" name="SK-4-text-23"/>
          <p:cNvSpPr/>
          <p:nvPr/>
        </p:nvSpPr>
        <p:spPr>
          <a:xfrm>
            <a:off x="748291" y="3758059"/>
            <a:ext cx="1560463" cy="4594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269398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CONTATOS COM</a:t>
            </a:r>
            <a:endParaRPr lang="en-US" sz="1575" dirty="0">
              <a:latin typeface="Montserrat" panose="00000500000000000000" pitchFamily="2" charset="0"/>
            </a:endParaRPr>
          </a:p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269398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ATENDIMENTO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25" name="SK-4-text-24"/>
          <p:cNvSpPr/>
          <p:nvPr/>
        </p:nvSpPr>
        <p:spPr>
          <a:xfrm>
            <a:off x="3387644" y="3655219"/>
            <a:ext cx="2714625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01D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1,6</a:t>
            </a:r>
            <a:endParaRPr lang="en-US" sz="3750" dirty="0"/>
          </a:p>
        </p:txBody>
      </p:sp>
      <p:sp>
        <p:nvSpPr>
          <p:cNvPr id="26" name="SK-4-text-25"/>
          <p:cNvSpPr/>
          <p:nvPr/>
        </p:nvSpPr>
        <p:spPr>
          <a:xfrm>
            <a:off x="4284000" y="3826669"/>
            <a:ext cx="46958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7B7B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</a:t>
            </a:r>
            <a:endParaRPr lang="en-US" sz="1275" dirty="0"/>
          </a:p>
        </p:txBody>
      </p:sp>
      <p:sp>
        <p:nvSpPr>
          <p:cNvPr id="27" name="SK-4-text-26"/>
          <p:cNvSpPr/>
          <p:nvPr/>
        </p:nvSpPr>
        <p:spPr>
          <a:xfrm>
            <a:off x="4710691" y="3655219"/>
            <a:ext cx="2714625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693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0,7</a:t>
            </a:r>
            <a:endParaRPr lang="en-US" sz="3750" dirty="0"/>
          </a:p>
        </p:txBody>
      </p:sp>
      <p:sp>
        <p:nvSpPr>
          <p:cNvPr id="28" name="SK-4-text-27"/>
          <p:cNvSpPr/>
          <p:nvPr/>
        </p:nvSpPr>
        <p:spPr>
          <a:xfrm>
            <a:off x="3369600" y="4155877"/>
            <a:ext cx="2024063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7B7B7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Detratores</a:t>
            </a:r>
            <a:endParaRPr lang="en-US" sz="1275" dirty="0">
              <a:latin typeface="Montserrat" panose="00000500000000000000" pitchFamily="2" charset="0"/>
            </a:endParaRPr>
          </a:p>
        </p:txBody>
      </p:sp>
      <p:sp>
        <p:nvSpPr>
          <p:cNvPr id="29" name="SK-4-text-28"/>
          <p:cNvSpPr/>
          <p:nvPr/>
        </p:nvSpPr>
        <p:spPr>
          <a:xfrm>
            <a:off x="4588800" y="4155877"/>
            <a:ext cx="2024063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7B7B7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Promotores</a:t>
            </a:r>
            <a:endParaRPr lang="en-US" sz="1275" dirty="0">
              <a:latin typeface="Montserrat" panose="00000500000000000000" pitchFamily="2" charset="0"/>
            </a:endParaRPr>
          </a:p>
        </p:txBody>
      </p:sp>
      <p:sp>
        <p:nvSpPr>
          <p:cNvPr id="30" name="SK-4-text-29"/>
          <p:cNvSpPr/>
          <p:nvPr/>
        </p:nvSpPr>
        <p:spPr>
          <a:xfrm>
            <a:off x="748291" y="4910286"/>
            <a:ext cx="1414165" cy="4662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269398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CORRELAÇÕES</a:t>
            </a:r>
            <a:endParaRPr lang="en-US" sz="1575" dirty="0">
              <a:latin typeface="Montserrat" panose="00000500000000000000" pitchFamily="2" charset="0"/>
            </a:endParaRPr>
          </a:p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269398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COM NPS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31" name="SK-4-text-30"/>
          <p:cNvSpPr/>
          <p:nvPr/>
        </p:nvSpPr>
        <p:spPr>
          <a:xfrm>
            <a:off x="4271797" y="4869061"/>
            <a:ext cx="2218373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Reclamações</a:t>
            </a:r>
            <a:endParaRPr lang="en-US" sz="1275" dirty="0">
              <a:latin typeface="Montserrat" panose="00000500000000000000" pitchFamily="2" charset="0"/>
            </a:endParaRPr>
          </a:p>
        </p:txBody>
      </p:sp>
      <p:sp>
        <p:nvSpPr>
          <p:cNvPr id="32" name="SK-4-text-31"/>
          <p:cNvSpPr/>
          <p:nvPr/>
        </p:nvSpPr>
        <p:spPr>
          <a:xfrm>
            <a:off x="3312459" y="5253186"/>
            <a:ext cx="186499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1D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-0,35</a:t>
            </a:r>
            <a:endParaRPr lang="en-US" sz="1650" dirty="0"/>
          </a:p>
        </p:txBody>
      </p:sp>
      <p:sp>
        <p:nvSpPr>
          <p:cNvPr id="33" name="SK-4-text-32"/>
          <p:cNvSpPr/>
          <p:nvPr/>
        </p:nvSpPr>
        <p:spPr>
          <a:xfrm>
            <a:off x="4258875" y="5184577"/>
            <a:ext cx="2412683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Contatos com</a:t>
            </a:r>
            <a:endParaRPr lang="en-US" sz="1275" dirty="0">
              <a:latin typeface="Montserrat" panose="00000500000000000000" pitchFamily="2" charset="0"/>
            </a:endParaRPr>
          </a:p>
        </p:txBody>
      </p:sp>
      <p:sp>
        <p:nvSpPr>
          <p:cNvPr id="34" name="SK-4-text-33"/>
          <p:cNvSpPr/>
          <p:nvPr/>
        </p:nvSpPr>
        <p:spPr>
          <a:xfrm>
            <a:off x="4278371" y="5369868"/>
            <a:ext cx="2218373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Atendimento</a:t>
            </a:r>
            <a:endParaRPr lang="en-US" sz="1275" dirty="0">
              <a:latin typeface="Montserrat" panose="00000500000000000000" pitchFamily="2" charset="0"/>
            </a:endParaRPr>
          </a:p>
        </p:txBody>
      </p:sp>
      <p:sp>
        <p:nvSpPr>
          <p:cNvPr id="35" name="SK-4-text-34"/>
          <p:cNvSpPr/>
          <p:nvPr/>
        </p:nvSpPr>
        <p:spPr>
          <a:xfrm>
            <a:off x="609601" y="5945757"/>
            <a:ext cx="4857287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dirty="0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Clientes sem reclamações apresentam NPS</a:t>
            </a:r>
            <a:endParaRPr lang="en-US" sz="1575" dirty="0">
              <a:latin typeface="Montserrat" panose="00000500000000000000" pitchFamily="2" charset="0"/>
            </a:endParaRPr>
          </a:p>
          <a:p>
            <a:pPr marL="0" indent="0" algn="l">
              <a:lnSpc>
                <a:spcPts val="1890"/>
              </a:lnSpc>
              <a:buNone/>
            </a:pPr>
            <a:r>
              <a:rPr lang="en-US" sz="1575" dirty="0">
                <a:solidFill>
                  <a:srgbClr val="001D3D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significativamente superior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36" name="SK-4-text-35"/>
          <p:cNvSpPr/>
          <p:nvPr/>
        </p:nvSpPr>
        <p:spPr>
          <a:xfrm>
            <a:off x="7205365" y="857250"/>
            <a:ext cx="4986635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NPS Escore por Presença de Reclamação</a:t>
            </a:r>
            <a:endParaRPr lang="en-US" sz="165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83977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09929"/>
            <a:ext cx="12192000" cy="47923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044" y="829717"/>
            <a:ext cx="19050" cy="5575548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655" y="1927473"/>
            <a:ext cx="1828800" cy="9525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55" y="2413992"/>
            <a:ext cx="4681686" cy="1220688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655" y="3915817"/>
            <a:ext cx="4681686" cy="1220688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2298" y="6078141"/>
            <a:ext cx="5315694" cy="9525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3796" y="980629"/>
            <a:ext cx="5705773" cy="5088582"/>
          </a:xfrm>
          <a:prstGeom prst="rect">
            <a:avLst/>
          </a:prstGeom>
        </p:spPr>
      </p:pic>
      <p:sp>
        <p:nvSpPr>
          <p:cNvPr id="14" name="SK-5-text-13"/>
          <p:cNvSpPr/>
          <p:nvPr/>
        </p:nvSpPr>
        <p:spPr>
          <a:xfrm>
            <a:off x="621655" y="843409"/>
            <a:ext cx="5387340" cy="5965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Recompra</a:t>
            </a:r>
            <a:endParaRPr lang="en-US" sz="4200" dirty="0"/>
          </a:p>
        </p:txBody>
      </p:sp>
      <p:sp>
        <p:nvSpPr>
          <p:cNvPr id="15" name="SK-5-text-14"/>
          <p:cNvSpPr/>
          <p:nvPr/>
        </p:nvSpPr>
        <p:spPr>
          <a:xfrm>
            <a:off x="609600" y="1453753"/>
            <a:ext cx="9734550" cy="370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comportamento de fidelização</a:t>
            </a:r>
            <a:endParaRPr lang="en-US" sz="2100" dirty="0"/>
          </a:p>
        </p:txBody>
      </p:sp>
      <p:sp>
        <p:nvSpPr>
          <p:cNvPr id="16" name="SK-5-text-15"/>
          <p:cNvSpPr/>
          <p:nvPr/>
        </p:nvSpPr>
        <p:spPr>
          <a:xfrm>
            <a:off x="2210098" y="2571750"/>
            <a:ext cx="1517005" cy="5896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0,57</a:t>
            </a:r>
            <a:endParaRPr lang="en-US" sz="4500" dirty="0"/>
          </a:p>
        </p:txBody>
      </p:sp>
      <p:sp>
        <p:nvSpPr>
          <p:cNvPr id="17" name="SK-5-text-16"/>
          <p:cNvSpPr/>
          <p:nvPr/>
        </p:nvSpPr>
        <p:spPr>
          <a:xfrm>
            <a:off x="1313111" y="3182094"/>
            <a:ext cx="322585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Correlação positiva com NPS</a:t>
            </a:r>
            <a:endParaRPr lang="en-US" sz="1650" dirty="0"/>
          </a:p>
        </p:txBody>
      </p:sp>
      <p:sp>
        <p:nvSpPr>
          <p:cNvPr id="18" name="SK-5-text-17"/>
          <p:cNvSpPr/>
          <p:nvPr/>
        </p:nvSpPr>
        <p:spPr>
          <a:xfrm>
            <a:off x="1114871" y="4053036"/>
            <a:ext cx="3707457" cy="5554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Mediana &gt; 8</a:t>
            </a:r>
            <a:endParaRPr lang="en-US" sz="4050" dirty="0"/>
          </a:p>
        </p:txBody>
      </p:sp>
      <p:sp>
        <p:nvSpPr>
          <p:cNvPr id="19" name="SK-5-text-18"/>
          <p:cNvSpPr/>
          <p:nvPr/>
        </p:nvSpPr>
        <p:spPr>
          <a:xfrm>
            <a:off x="996107" y="4690765"/>
            <a:ext cx="3908673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dos clientes que recompraram</a:t>
            </a:r>
            <a:endParaRPr lang="en-US" sz="1650" dirty="0"/>
          </a:p>
        </p:txBody>
      </p:sp>
      <p:sp>
        <p:nvSpPr>
          <p:cNvPr id="20" name="SK-5-text-19"/>
          <p:cNvSpPr/>
          <p:nvPr/>
        </p:nvSpPr>
        <p:spPr>
          <a:xfrm>
            <a:off x="719286" y="5506938"/>
            <a:ext cx="4523184" cy="8572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650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satisfeitos retornam mais </a:t>
            </a:r>
            <a:r>
              <a:rPr lang="en-US" sz="1650" dirty="0" err="1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1650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</a:p>
          <a:p>
            <a:pPr marL="0" indent="0" algn="l">
              <a:lnSpc>
                <a:spcPts val="2063"/>
              </a:lnSpc>
              <a:buNone/>
            </a:pPr>
            <a:r>
              <a:rPr lang="en-US" sz="1650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recompra em 30 dias é um dos maiores</a:t>
            </a:r>
            <a:endParaRPr lang="en-US" sz="1650" dirty="0"/>
          </a:p>
          <a:p>
            <a:pPr marL="0" indent="0" algn="l">
              <a:lnSpc>
                <a:spcPts val="2063"/>
              </a:lnSpc>
              <a:buNone/>
            </a:pPr>
            <a:r>
              <a:rPr lang="en-US" sz="1650" dirty="0">
                <a:solidFill>
                  <a:srgbClr val="1A2B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de lealdade observados na base.</a:t>
            </a:r>
            <a:endParaRPr lang="en-US" sz="1650" dirty="0"/>
          </a:p>
        </p:txBody>
      </p:sp>
      <p:sp>
        <p:nvSpPr>
          <p:cNvPr id="21" name="SK-5-text-20"/>
          <p:cNvSpPr/>
          <p:nvPr/>
        </p:nvSpPr>
        <p:spPr>
          <a:xfrm>
            <a:off x="7447657" y="6253372"/>
            <a:ext cx="2965698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Escore vs. Recompra em 30 dias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761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41884"/>
            <a:ext cx="780157" cy="82153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73" y="2235696"/>
            <a:ext cx="3377059" cy="2962573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73" y="2235696"/>
            <a:ext cx="3377059" cy="82153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1294" y="2269927"/>
            <a:ext cx="3377059" cy="294888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1294" y="2235696"/>
            <a:ext cx="3377059" cy="82153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467" y="2276773"/>
            <a:ext cx="3377059" cy="2942034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467" y="2235696"/>
            <a:ext cx="3377059" cy="82153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863" y="5657850"/>
            <a:ext cx="10399663" cy="843409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7396" y="2509986"/>
            <a:ext cx="780157" cy="788640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9482" y="2530525"/>
            <a:ext cx="853380" cy="726877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2753" y="2461915"/>
            <a:ext cx="938659" cy="932557"/>
          </a:xfrm>
          <a:prstGeom prst="rect">
            <a:avLst/>
          </a:prstGeom>
        </p:spPr>
      </p:pic>
      <p:sp>
        <p:nvSpPr>
          <p:cNvPr id="17" name="SK-6-text-16"/>
          <p:cNvSpPr/>
          <p:nvPr/>
        </p:nvSpPr>
        <p:spPr>
          <a:xfrm>
            <a:off x="865584" y="473125"/>
            <a:ext cx="7156698" cy="11520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Aprendemos Sobre a</a:t>
            </a:r>
            <a:endParaRPr lang="en-US" sz="3750" dirty="0"/>
          </a:p>
          <a:p>
            <a:pPr marL="0" indent="0" algn="l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Satisfação do Cliente</a:t>
            </a:r>
            <a:endParaRPr lang="en-US" sz="3750" dirty="0"/>
          </a:p>
        </p:txBody>
      </p:sp>
      <p:sp>
        <p:nvSpPr>
          <p:cNvPr id="18" name="SK-6-text-17"/>
          <p:cNvSpPr/>
          <p:nvPr/>
        </p:nvSpPr>
        <p:spPr>
          <a:xfrm>
            <a:off x="1072753" y="3624336"/>
            <a:ext cx="6149340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Insatisfação</a:t>
            </a:r>
            <a:r>
              <a:rPr lang="en-US" sz="1800" b="1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Sistêmica</a:t>
            </a:r>
            <a:endParaRPr lang="en-US" sz="1800" dirty="0"/>
          </a:p>
        </p:txBody>
      </p:sp>
      <p:sp>
        <p:nvSpPr>
          <p:cNvPr id="19" name="SK-6-text-18"/>
          <p:cNvSpPr/>
          <p:nvPr/>
        </p:nvSpPr>
        <p:spPr>
          <a:xfrm>
            <a:off x="1060698" y="3893265"/>
            <a:ext cx="2950369" cy="11108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insatisfação não está concentrada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uma região. O Centro-Oeste teve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menor NPS, mas as diferenças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regionais foram pequenas.</a:t>
            </a:r>
            <a:endParaRPr lang="en-US" sz="1350" dirty="0"/>
          </a:p>
        </p:txBody>
      </p:sp>
      <p:sp>
        <p:nvSpPr>
          <p:cNvPr id="20" name="SK-6-text-19"/>
          <p:cNvSpPr/>
          <p:nvPr/>
        </p:nvSpPr>
        <p:spPr>
          <a:xfrm>
            <a:off x="4645075" y="3483769"/>
            <a:ext cx="2011561" cy="534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Comportamento</a:t>
            </a:r>
            <a:endParaRPr lang="en-US" sz="18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Consistente</a:t>
            </a:r>
            <a:endParaRPr lang="en-US" sz="1800" dirty="0"/>
          </a:p>
        </p:txBody>
      </p:sp>
      <p:sp>
        <p:nvSpPr>
          <p:cNvPr id="21" name="SK-6-text-20"/>
          <p:cNvSpPr/>
          <p:nvPr/>
        </p:nvSpPr>
        <p:spPr>
          <a:xfrm>
            <a:off x="4645075" y="4100959"/>
            <a:ext cx="2694384" cy="8572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Detratores apresentam mais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atrasos, mais reclamações e mais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contatos com o atendimento de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 recorrente.</a:t>
            </a:r>
            <a:endParaRPr lang="en-US" sz="1350" dirty="0"/>
          </a:p>
        </p:txBody>
      </p:sp>
      <p:sp>
        <p:nvSpPr>
          <p:cNvPr id="22" name="SK-6-text-21"/>
          <p:cNvSpPr/>
          <p:nvPr/>
        </p:nvSpPr>
        <p:spPr>
          <a:xfrm>
            <a:off x="8192988" y="3470077"/>
            <a:ext cx="2365177" cy="5622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Operacionais</a:t>
            </a:r>
            <a:endParaRPr lang="en-US" sz="18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Antecipados</a:t>
            </a:r>
            <a:endParaRPr lang="en-US" sz="1800" dirty="0"/>
          </a:p>
        </p:txBody>
      </p:sp>
      <p:sp>
        <p:nvSpPr>
          <p:cNvPr id="23" name="SK-6-text-22"/>
          <p:cNvSpPr/>
          <p:nvPr/>
        </p:nvSpPr>
        <p:spPr>
          <a:xfrm>
            <a:off x="8156302" y="4094113"/>
            <a:ext cx="3011388" cy="8914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Indicadores logísticos funcionam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alertas precoces. A insatisfação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deixa rastros antes mesmo de o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responder qualquer pesquisa.</a:t>
            </a:r>
            <a:endParaRPr lang="en-US" sz="1350" dirty="0"/>
          </a:p>
        </p:txBody>
      </p:sp>
      <p:sp>
        <p:nvSpPr>
          <p:cNvPr id="24" name="SK-6-text-23"/>
          <p:cNvSpPr/>
          <p:nvPr/>
        </p:nvSpPr>
        <p:spPr>
          <a:xfrm>
            <a:off x="1239887" y="5918448"/>
            <a:ext cx="9736336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satisfação do cliente é </a:t>
            </a:r>
            <a:r>
              <a:rPr lang="en-US" sz="1650" dirty="0" err="1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observável</a:t>
            </a:r>
            <a:r>
              <a:rPr lang="en-US" sz="1650" dirty="0">
                <a:solidFill>
                  <a:srgbClr val="0D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pode ser gerenciada antes que o problema aconteça.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92596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325017"/>
            <a:ext cx="914400" cy="38100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922264"/>
            <a:ext cx="3267373" cy="3123009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255" y="2215009"/>
            <a:ext cx="609600" cy="617190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573" y="1915418"/>
            <a:ext cx="3267373" cy="3130004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3577" y="2215009"/>
            <a:ext cx="609600" cy="617190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098" y="1935956"/>
            <a:ext cx="3267373" cy="3116163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4165" y="2215009"/>
            <a:ext cx="609600" cy="617190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561" y="5383411"/>
            <a:ext cx="10624569" cy="939403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0055" y="2221855"/>
            <a:ext cx="438894" cy="411361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0086" y="2201317"/>
            <a:ext cx="402282" cy="452586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9263" y="2208163"/>
            <a:ext cx="572988" cy="425053"/>
          </a:xfrm>
          <a:prstGeom prst="rect">
            <a:avLst/>
          </a:prstGeom>
        </p:spPr>
      </p:pic>
      <p:sp>
        <p:nvSpPr>
          <p:cNvPr id="17" name="SK-7-text-16"/>
          <p:cNvSpPr/>
          <p:nvPr/>
        </p:nvSpPr>
        <p:spPr>
          <a:xfrm>
            <a:off x="902196" y="534888"/>
            <a:ext cx="7974330" cy="5965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Ação</a:t>
            </a:r>
            <a:endParaRPr lang="en-US" sz="3900" dirty="0"/>
          </a:p>
        </p:txBody>
      </p:sp>
      <p:sp>
        <p:nvSpPr>
          <p:cNvPr id="18" name="SK-7-text-17"/>
          <p:cNvSpPr/>
          <p:nvPr/>
        </p:nvSpPr>
        <p:spPr>
          <a:xfrm>
            <a:off x="1438573" y="2317998"/>
            <a:ext cx="1047750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300" dirty="0"/>
          </a:p>
        </p:txBody>
      </p:sp>
      <p:sp>
        <p:nvSpPr>
          <p:cNvPr id="19" name="SK-7-text-18"/>
          <p:cNvSpPr/>
          <p:nvPr/>
        </p:nvSpPr>
        <p:spPr>
          <a:xfrm>
            <a:off x="1194792" y="3065413"/>
            <a:ext cx="2084784" cy="6514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</a:t>
            </a:r>
            <a:endParaRPr lang="en-US" sz="19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Logístico</a:t>
            </a:r>
            <a:endParaRPr lang="en-US" sz="1950" dirty="0"/>
          </a:p>
        </p:txBody>
      </p:sp>
      <p:sp>
        <p:nvSpPr>
          <p:cNvPr id="20" name="SK-7-text-19"/>
          <p:cNvSpPr/>
          <p:nvPr/>
        </p:nvSpPr>
        <p:spPr>
          <a:xfrm>
            <a:off x="1194792" y="3799284"/>
            <a:ext cx="2560290" cy="9600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Reduzir atrasos e identificar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rotas ou parceiros com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desempenho abaixo do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esperado.</a:t>
            </a:r>
            <a:endParaRPr lang="en-US" sz="1500" dirty="0"/>
          </a:p>
        </p:txBody>
      </p:sp>
      <p:sp>
        <p:nvSpPr>
          <p:cNvPr id="21" name="SK-7-text-20"/>
          <p:cNvSpPr/>
          <p:nvPr/>
        </p:nvSpPr>
        <p:spPr>
          <a:xfrm>
            <a:off x="4986486" y="2338536"/>
            <a:ext cx="1047750" cy="3634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300" dirty="0"/>
          </a:p>
        </p:txBody>
      </p:sp>
      <p:sp>
        <p:nvSpPr>
          <p:cNvPr id="22" name="SK-7-text-21"/>
          <p:cNvSpPr/>
          <p:nvPr/>
        </p:nvSpPr>
        <p:spPr>
          <a:xfrm>
            <a:off x="4738828" y="3065413"/>
            <a:ext cx="2365177" cy="6103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Reduzir o Esforço</a:t>
            </a:r>
            <a:endParaRPr lang="en-US" sz="19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Cliente</a:t>
            </a:r>
            <a:endParaRPr lang="en-US" sz="1950" dirty="0"/>
          </a:p>
        </p:txBody>
      </p:sp>
      <p:sp>
        <p:nvSpPr>
          <p:cNvPr id="23" name="SK-7-text-22"/>
          <p:cNvSpPr/>
          <p:nvPr/>
        </p:nvSpPr>
        <p:spPr>
          <a:xfrm>
            <a:off x="4738828" y="3799284"/>
            <a:ext cx="2718792" cy="9600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Resolver demandas com mais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agilidade e evitar múltiplos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contatos para um mesmo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caso.</a:t>
            </a:r>
            <a:endParaRPr lang="en-US" sz="1500" dirty="0"/>
          </a:p>
        </p:txBody>
      </p:sp>
      <p:sp>
        <p:nvSpPr>
          <p:cNvPr id="24" name="SK-7-text-23"/>
          <p:cNvSpPr/>
          <p:nvPr/>
        </p:nvSpPr>
        <p:spPr>
          <a:xfrm>
            <a:off x="8509992" y="2331690"/>
            <a:ext cx="1047750" cy="370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300" dirty="0"/>
          </a:p>
        </p:txBody>
      </p:sp>
      <p:sp>
        <p:nvSpPr>
          <p:cNvPr id="25" name="SK-7-text-24"/>
          <p:cNvSpPr/>
          <p:nvPr/>
        </p:nvSpPr>
        <p:spPr>
          <a:xfrm>
            <a:off x="8346369" y="3065413"/>
            <a:ext cx="1938486" cy="6514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Estratégias de</a:t>
            </a:r>
            <a:endParaRPr lang="en-US" sz="195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01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Recompra</a:t>
            </a:r>
            <a:endParaRPr lang="en-US" sz="1950" dirty="0"/>
          </a:p>
        </p:txBody>
      </p:sp>
      <p:sp>
        <p:nvSpPr>
          <p:cNvPr id="26" name="SK-7-text-25"/>
          <p:cNvSpPr/>
          <p:nvPr/>
        </p:nvSpPr>
        <p:spPr>
          <a:xfrm>
            <a:off x="8334165" y="3799284"/>
            <a:ext cx="2669977" cy="966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Estimular novas compras no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pós-entrega com campanhas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relacionamento e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fidelização.</a:t>
            </a:r>
            <a:endParaRPr lang="en-US" sz="1500" dirty="0"/>
          </a:p>
        </p:txBody>
      </p:sp>
      <p:sp>
        <p:nvSpPr>
          <p:cNvPr id="27" name="SK-7-text-26"/>
          <p:cNvSpPr/>
          <p:nvPr/>
        </p:nvSpPr>
        <p:spPr>
          <a:xfrm>
            <a:off x="1017495" y="5568553"/>
            <a:ext cx="3583305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6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 PALIATIVA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1005291" y="5911453"/>
            <a:ext cx="10985004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 atraso na entrega for estrutural, priorize clientes de maior ticket médio para preservar receita e prestígio.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161752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92" y="1172617"/>
            <a:ext cx="2865090" cy="116532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30" y="3070098"/>
            <a:ext cx="6278761" cy="19050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69" y="6361046"/>
            <a:ext cx="11143357" cy="9525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467" y="2379613"/>
            <a:ext cx="3462486" cy="2722513"/>
          </a:xfrm>
          <a:prstGeom prst="rect">
            <a:avLst/>
          </a:prstGeom>
        </p:spPr>
      </p:pic>
      <p:sp>
        <p:nvSpPr>
          <p:cNvPr id="9" name="SK-8-text-8"/>
          <p:cNvSpPr/>
          <p:nvPr/>
        </p:nvSpPr>
        <p:spPr>
          <a:xfrm>
            <a:off x="572988" y="329059"/>
            <a:ext cx="5596890" cy="534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</a:t>
            </a:r>
            <a:endParaRPr lang="en-US" sz="3900" dirty="0"/>
          </a:p>
        </p:txBody>
      </p:sp>
      <p:sp>
        <p:nvSpPr>
          <p:cNvPr id="10" name="SK-8-text-9"/>
          <p:cNvSpPr/>
          <p:nvPr/>
        </p:nvSpPr>
        <p:spPr>
          <a:xfrm>
            <a:off x="585192" y="1667172"/>
            <a:ext cx="5998369" cy="11178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02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satisfação do </a:t>
            </a:r>
            <a:r>
              <a:rPr lang="en-US" sz="3675" b="1" dirty="0" err="1">
                <a:solidFill>
                  <a:srgbClr val="002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3675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02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acontece por acaso.</a:t>
            </a:r>
            <a:endParaRPr lang="en-US" sz="3675" dirty="0"/>
          </a:p>
        </p:txBody>
      </p:sp>
      <p:sp>
        <p:nvSpPr>
          <p:cNvPr id="11" name="SK-8-text-10"/>
          <p:cNvSpPr/>
          <p:nvPr/>
        </p:nvSpPr>
        <p:spPr>
          <a:xfrm>
            <a:off x="621655" y="3408437"/>
            <a:ext cx="6351984" cy="6994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 algn="l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Atrasos, reclamações e dificuldades deixam</a:t>
            </a:r>
            <a:endParaRPr lang="en-US" sz="2100" dirty="0"/>
          </a:p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sinais antes da pesquisa de NPS.</a:t>
            </a:r>
            <a:endParaRPr lang="en-US" sz="2100" dirty="0"/>
          </a:p>
        </p:txBody>
      </p:sp>
      <p:sp>
        <p:nvSpPr>
          <p:cNvPr id="12" name="SK-8-text-11"/>
          <p:cNvSpPr/>
          <p:nvPr/>
        </p:nvSpPr>
        <p:spPr>
          <a:xfrm>
            <a:off x="621655" y="4300066"/>
            <a:ext cx="6303169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 algn="l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Monitorar</a:t>
            </a: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indicadores operacionais permite</a:t>
            </a:r>
            <a:endParaRPr lang="en-US" sz="2100" dirty="0"/>
          </a:p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agir de forma preventiva.</a:t>
            </a:r>
            <a:endParaRPr lang="en-US" sz="2100" dirty="0"/>
          </a:p>
        </p:txBody>
      </p:sp>
      <p:sp>
        <p:nvSpPr>
          <p:cNvPr id="13" name="SK-8-text-12"/>
          <p:cNvSpPr/>
          <p:nvPr/>
        </p:nvSpPr>
        <p:spPr>
          <a:xfrm>
            <a:off x="621655" y="5171008"/>
            <a:ext cx="6047184" cy="6926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 algn="l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objetivo é gerenciar a </a:t>
            </a:r>
            <a:r>
              <a:rPr lang="en-US" sz="21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satisfação</a:t>
            </a: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não</a:t>
            </a:r>
            <a:endParaRPr lang="en-US" sz="2100" dirty="0"/>
          </a:p>
          <a:p>
            <a:pPr marL="0" indent="0" algn="l">
              <a:lnSpc>
                <a:spcPts val="273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apenas medi-la.</a:t>
            </a:r>
            <a:endParaRPr lang="en-US" sz="2100" dirty="0"/>
          </a:p>
        </p:txBody>
      </p:sp>
      <p:sp>
        <p:nvSpPr>
          <p:cNvPr id="14" name="SK-8-text-13"/>
          <p:cNvSpPr/>
          <p:nvPr/>
        </p:nvSpPr>
        <p:spPr>
          <a:xfrm>
            <a:off x="8208615" y="5897761"/>
            <a:ext cx="2967782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852"/>
            <a:ext cx="255984" cy="6800999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851" y="3056065"/>
            <a:ext cx="9144000" cy="2944713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969" y="6491734"/>
            <a:ext cx="11167765" cy="19050"/>
          </a:xfrm>
          <a:prstGeom prst="rect">
            <a:avLst/>
          </a:prstGeom>
        </p:spPr>
      </p:pic>
      <p:sp>
        <p:nvSpPr>
          <p:cNvPr id="7" name="SK-9-text-6"/>
          <p:cNvSpPr/>
          <p:nvPr/>
        </p:nvSpPr>
        <p:spPr>
          <a:xfrm>
            <a:off x="3952420" y="1593389"/>
            <a:ext cx="10051733" cy="6308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 err="1">
                <a:solidFill>
                  <a:srgbClr val="0028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Obrigado</a:t>
            </a:r>
            <a:endParaRPr lang="en-US" sz="7200" dirty="0"/>
          </a:p>
        </p:txBody>
      </p:sp>
      <p:sp>
        <p:nvSpPr>
          <p:cNvPr id="9" name="SK-9-text-8"/>
          <p:cNvSpPr/>
          <p:nvPr/>
        </p:nvSpPr>
        <p:spPr>
          <a:xfrm>
            <a:off x="1779687" y="5176851"/>
            <a:ext cx="10156031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latin typeface="Roboto" pitchFamily="34" charset="0"/>
                <a:ea typeface="Roboto" pitchFamily="34" charset="-122"/>
                <a:cs typeface="Roboto" pitchFamily="34" charset="-120"/>
              </a:rPr>
              <a:t>Fernanda Florêncio da Silva - RM375023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Leonardo Gomes de Azevedo - </a:t>
            </a:r>
            <a:r>
              <a:rPr lang="pt-B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RM374857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Roboto" pitchFamily="34" charset="0"/>
                <a:ea typeface="Roboto" pitchFamily="34" charset="-122"/>
                <a:cs typeface="Roboto" pitchFamily="34" charset="-120"/>
              </a:rPr>
              <a:t>Julianna Karina de Oliveira Siqueira - RM375272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Roboto" pitchFamily="34" charset="0"/>
                <a:ea typeface="Roboto" pitchFamily="34" charset="-122"/>
                <a:cs typeface="Roboto" pitchFamily="34" charset="-120"/>
              </a:rPr>
              <a:t>Matheus Braga - RM374649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Roboto" pitchFamily="34" charset="0"/>
                <a:ea typeface="Roboto" pitchFamily="34" charset="-122"/>
                <a:cs typeface="Roboto" pitchFamily="34" charset="-120"/>
              </a:rPr>
              <a:t>Matheus Crisóstomo - RM375438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 algn="l">
              <a:buNone/>
            </a:pPr>
            <a:endParaRPr lang="en-US" sz="2400" dirty="0">
              <a:solidFill>
                <a:srgbClr val="21212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14" name="SK-9-text-13"/>
          <p:cNvSpPr/>
          <p:nvPr/>
        </p:nvSpPr>
        <p:spPr>
          <a:xfrm>
            <a:off x="475357" y="6597253"/>
            <a:ext cx="8565832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endParaRPr lang="en-US" sz="1275" dirty="0"/>
          </a:p>
        </p:txBody>
      </p:sp>
      <p:sp>
        <p:nvSpPr>
          <p:cNvPr id="15" name="SK-9-text-14"/>
          <p:cNvSpPr/>
          <p:nvPr/>
        </p:nvSpPr>
        <p:spPr>
          <a:xfrm>
            <a:off x="10489406" y="6604248"/>
            <a:ext cx="1202531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478</Words>
  <Application>Microsoft Office PowerPoint</Application>
  <PresentationFormat>Widescreen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Inter</vt:lpstr>
      <vt:lpstr>Montserrat</vt:lpstr>
      <vt:lpstr>Roboto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Julianna Siqueira</cp:lastModifiedBy>
  <cp:revision>3</cp:revision>
  <dcterms:created xsi:type="dcterms:W3CDTF">2026-06-24T20:44:16Z</dcterms:created>
  <dcterms:modified xsi:type="dcterms:W3CDTF">2026-06-25T00:43:40Z</dcterms:modified>
</cp:coreProperties>
</file>